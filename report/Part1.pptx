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2" r:id="rId6"/>
    <p:sldId id="262" r:id="rId7"/>
    <p:sldId id="260" r:id="rId8"/>
    <p:sldId id="268" r:id="rId9"/>
    <p:sldId id="267" r:id="rId10"/>
    <p:sldId id="266" r:id="rId11"/>
    <p:sldId id="263" r:id="rId12"/>
    <p:sldId id="27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>
      <p:cViewPr varScale="1">
        <p:scale>
          <a:sx n="145" d="100"/>
          <a:sy n="14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E6155-0D54-D140-A1B0-669AB52FE0DB}" type="datetimeFigureOut">
              <a:rPr lang="en-DE" smtClean="0"/>
              <a:t>09.10.25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9A44D-B9BF-3143-88C5-9AE3D03CE89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512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9A44D-B9BF-3143-88C5-9AE3D03CE89B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155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F593-0349-D074-05B6-7411E4373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Static Analysis vs. </a:t>
            </a:r>
            <a:br>
              <a:rPr lang="en-GB" dirty="0"/>
            </a:br>
            <a:r>
              <a:rPr lang="en-GB" dirty="0"/>
              <a:t>Machine Learning for Vulnerability Detection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DB61A-EC0E-BFF3-A0CC-3AF5BB9FB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Mohammed Almasi</a:t>
            </a:r>
          </a:p>
          <a:p>
            <a:r>
              <a:rPr lang="en-GB" dirty="0"/>
              <a:t>M.Sc. Computer Science</a:t>
            </a:r>
          </a:p>
          <a:p>
            <a:r>
              <a:rPr lang="en-GB" dirty="0"/>
              <a:t>University of Passau</a:t>
            </a:r>
          </a:p>
          <a:p>
            <a:r>
              <a:rPr lang="en-GB" dirty="0"/>
              <a:t>almasi01@ads.uni-passau.de</a:t>
            </a:r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5342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3F6F-0262-EC37-DD87-0BFDCE85AE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r>
              <a:rPr lang="en-GB" dirty="0"/>
              <a:t>1. Problem Statement</a:t>
            </a:r>
          </a:p>
          <a:p>
            <a:r>
              <a:rPr lang="en-GB" dirty="0"/>
              <a:t>2. Vulnerability Types Covered</a:t>
            </a:r>
          </a:p>
          <a:p>
            <a:r>
              <a:rPr lang="en-GB" dirty="0"/>
              <a:t>3. Implementation Architecture</a:t>
            </a:r>
          </a:p>
          <a:p>
            <a:r>
              <a:rPr lang="en-GB" dirty="0"/>
              <a:t>4. Evaluation &amp; Results</a:t>
            </a:r>
          </a:p>
          <a:p>
            <a:r>
              <a:rPr lang="en-GB" dirty="0"/>
              <a:t>5. Live System Demonstration</a:t>
            </a:r>
          </a:p>
          <a:p>
            <a:r>
              <a:rPr lang="en-GB" dirty="0"/>
              <a:t>6. Machine Learning Methodology Overview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0046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DD18-DC09-D985-AF52-4152C9A9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22BA7-DACC-1050-6899-D7BC49DA70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1. Problem Statement</a:t>
            </a:r>
          </a:p>
          <a:p>
            <a:pPr marL="0" indent="0">
              <a:buNone/>
            </a:pPr>
            <a:r>
              <a:rPr lang="en-GB" sz="1600" dirty="0"/>
              <a:t>Current Tool Limitations</a:t>
            </a:r>
          </a:p>
          <a:p>
            <a:r>
              <a:rPr lang="en-GB" dirty="0"/>
              <a:t>Cost: </a:t>
            </a:r>
            <a:r>
              <a:rPr lang="en-GB" sz="1600" dirty="0"/>
              <a:t>Professional security scanners are expensive. Tools like Veracode or </a:t>
            </a:r>
            <a:r>
              <a:rPr lang="en-GB" sz="1600" dirty="0" err="1"/>
              <a:t>Checkmarx</a:t>
            </a:r>
            <a:r>
              <a:rPr lang="en-GB" sz="1600" dirty="0"/>
              <a:t> cost thousands of dollars per year, which most students and small teams can’t afford.</a:t>
            </a:r>
          </a:p>
          <a:p>
            <a:r>
              <a:rPr lang="en-GB" dirty="0"/>
              <a:t>Hard to Use: </a:t>
            </a:r>
            <a:r>
              <a:rPr lang="en-GB" sz="1600" dirty="0"/>
              <a:t>Many security tools are complex to set up and use. They require special training or expertise that many developers don’t have.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05099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CEB3-A1E8-16DC-169E-A2A0119B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933E-C77C-E3C4-C8BF-DC67F6D776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2. Vulnerability Types Covered (SQL Injection)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42A7C-08A4-3FE5-263E-9BD59A8C0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71344"/>
              </p:ext>
            </p:extLst>
          </p:nvPr>
        </p:nvGraphicFramePr>
        <p:xfrm>
          <a:off x="913774" y="2026906"/>
          <a:ext cx="10105208" cy="4290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4699">
                  <a:extLst>
                    <a:ext uri="{9D8B030D-6E8A-4147-A177-3AD203B41FA5}">
                      <a16:colId xmlns:a16="http://schemas.microsoft.com/office/drawing/2014/main" val="3398807640"/>
                    </a:ext>
                  </a:extLst>
                </a:gridCol>
                <a:gridCol w="3500582">
                  <a:extLst>
                    <a:ext uri="{9D8B030D-6E8A-4147-A177-3AD203B41FA5}">
                      <a16:colId xmlns:a16="http://schemas.microsoft.com/office/drawing/2014/main" val="3556133040"/>
                    </a:ext>
                  </a:extLst>
                </a:gridCol>
                <a:gridCol w="4959927">
                  <a:extLst>
                    <a:ext uri="{9D8B030D-6E8A-4147-A177-3AD203B41FA5}">
                      <a16:colId xmlns:a16="http://schemas.microsoft.com/office/drawing/2014/main" val="1034256104"/>
                    </a:ext>
                  </a:extLst>
                </a:gridCol>
              </a:tblGrid>
              <a:tr h="221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Vulnerability Type</a:t>
                      </a:r>
                      <a:endParaRPr lang="en-DE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DE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Example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4766368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String Concatenation</a:t>
                      </a:r>
                      <a:endParaRPr lang="en-D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When code adds user input directly to SQL queries</a:t>
                      </a:r>
                      <a:endParaRPr lang="en-DE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query = </a:t>
                      </a:r>
                      <a:r>
                        <a:rPr lang="en-US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"SELECT * FROM users WHERE id = " 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  <a:effectLst/>
                        </a:rPr>
                        <a:t>+ </a:t>
                      </a:r>
                      <a:r>
                        <a:rPr lang="en-US" sz="1100" dirty="0" err="1">
                          <a:solidFill>
                            <a:srgbClr val="C00000"/>
                          </a:solidFill>
                          <a:effectLst/>
                        </a:rPr>
                        <a:t>user_input</a:t>
                      </a:r>
                      <a:endParaRPr lang="en-DE" sz="110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616603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F-String Formatting</a:t>
                      </a:r>
                      <a:endParaRPr lang="en-D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code uses f-strings with user input in SQL</a:t>
                      </a:r>
                      <a:endParaRPr lang="en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query = </a:t>
                      </a:r>
                      <a:r>
                        <a:rPr lang="en-US" sz="11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f"SELECT</a:t>
                      </a:r>
                      <a:r>
                        <a:rPr lang="en-US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 * FROM users WHERE id = 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  <a:effectLst/>
                        </a:rPr>
                        <a:t>{</a:t>
                      </a:r>
                      <a:r>
                        <a:rPr lang="en-US" sz="1100" dirty="0" err="1">
                          <a:solidFill>
                            <a:srgbClr val="C00000"/>
                          </a:solidFill>
                          <a:effectLst/>
                        </a:rPr>
                        <a:t>user_input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  <a:effectLst/>
                        </a:rPr>
                        <a:t>}</a:t>
                      </a:r>
                      <a:r>
                        <a:rPr lang="en-US" sz="1100" dirty="0">
                          <a:effectLst/>
                        </a:rPr>
                        <a:t>"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4202013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Error-based</a:t>
                      </a:r>
                      <a:endParaRPr lang="en-D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 string interpolation into SQL</a:t>
                      </a:r>
                      <a:endParaRPr lang="en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find_user_by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_</a:t>
                      </a:r>
                      <a:r>
                        <a:rPr lang="en-GB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(email):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sql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GB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"SELECT id, name FROM users WHERE email = '%s'" 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% email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cur.execute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sql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GB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cur.fetchall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419454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dirty="0"/>
                        <a:t>Union-based</a:t>
                      </a:r>
                      <a:endParaRPr lang="en-DE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INSECURE if column comes from user input — allows injection of SQL fragments</a:t>
                      </a:r>
                      <a:endParaRPr lang="en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effectLst/>
                        </a:rPr>
                        <a:t>def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C00000"/>
                          </a:solidFill>
                          <a:effectLst/>
                        </a:rPr>
                        <a:t>get_users_ordered_by</a:t>
                      </a:r>
                      <a:r>
                        <a:rPr lang="en-US" sz="1100" dirty="0">
                          <a:effectLst/>
                        </a:rPr>
                        <a:t>(column):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 = </a:t>
                      </a:r>
                      <a:r>
                        <a:rPr lang="en-US" sz="11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f"SELECT</a:t>
                      </a:r>
                      <a:r>
                        <a:rPr lang="en-US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 id, name FROM users ORDER BY {column}</a:t>
                      </a:r>
                      <a:r>
                        <a:rPr lang="en-US" sz="1100" dirty="0">
                          <a:effectLst/>
                        </a:rPr>
                        <a:t>"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dirty="0" err="1">
                          <a:effectLst/>
                        </a:rPr>
                        <a:t>cur.execute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dirty="0">
                          <a:solidFill>
                            <a:schemeClr val="accent1"/>
                          </a:solidFill>
                          <a:effectLst/>
                        </a:rPr>
                        <a:t>return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cur.fetchall</a:t>
                      </a:r>
                      <a:r>
                        <a:rPr lang="en-US" sz="1100" dirty="0">
                          <a:effectLst/>
                        </a:rPr>
                        <a:t>()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124878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dirty="0"/>
                        <a:t>Boolean-based blind</a:t>
                      </a:r>
                      <a:endParaRPr lang="en-D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400" dirty="0"/>
                        <a:t>Vulnerable: concatenating conditions from user input, leading to logic changes.</a:t>
                      </a:r>
                      <a:endParaRPr lang="en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is_admin_by_username</a:t>
                      </a:r>
                      <a:r>
                        <a:rPr lang="en-US" sz="1100" dirty="0">
                          <a:effectLst/>
                        </a:rPr>
                        <a:t>(username):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 = </a:t>
                      </a:r>
                      <a:r>
                        <a:rPr lang="en-US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"SELECT </a:t>
                      </a:r>
                      <a:r>
                        <a:rPr lang="en-US" sz="11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is_admin</a:t>
                      </a:r>
                      <a:r>
                        <a:rPr lang="en-US" sz="1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 FROM accounts WHERE username = '%s'" </a:t>
                      </a:r>
                      <a:r>
                        <a:rPr lang="en-US" sz="1100" dirty="0">
                          <a:effectLst/>
                        </a:rPr>
                        <a:t>% username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dirty="0" err="1">
                          <a:effectLst/>
                        </a:rPr>
                        <a:t>cur.execute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row = </a:t>
                      </a:r>
                      <a:r>
                        <a:rPr lang="en-US" sz="1100" dirty="0" err="1">
                          <a:effectLst/>
                        </a:rPr>
                        <a:t>cur.fetchone</a:t>
                      </a:r>
                      <a:r>
                        <a:rPr lang="en-US" sz="1100" dirty="0">
                          <a:effectLst/>
                        </a:rPr>
                        <a:t>()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return </a:t>
                      </a:r>
                      <a:r>
                        <a:rPr lang="en-US" sz="1100" dirty="0">
                          <a:solidFill>
                            <a:schemeClr val="accent4"/>
                          </a:solidFill>
                          <a:effectLst/>
                        </a:rPr>
                        <a:t>bool</a:t>
                      </a:r>
                      <a:r>
                        <a:rPr lang="en-US" sz="1100" dirty="0">
                          <a:effectLst/>
                        </a:rPr>
                        <a:t>(row and row[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r>
                        <a:rPr lang="en-US" sz="1100" dirty="0">
                          <a:effectLst/>
                        </a:rPr>
                        <a:t>])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222776"/>
                  </a:ext>
                </a:extLst>
              </a:tr>
              <a:tr h="4583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200" dirty="0"/>
                        <a:t>Time-based blind</a:t>
                      </a:r>
                      <a:endParaRPr lang="en-DE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Accepts an entire WHERE expression from user</a:t>
                      </a:r>
                      <a:endParaRPr lang="en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search_products_freeform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 err="1">
                          <a:effectLst/>
                        </a:rPr>
                        <a:t>where_clause</a:t>
                      </a:r>
                      <a:r>
                        <a:rPr lang="en-US" sz="1100" dirty="0">
                          <a:effectLst/>
                        </a:rPr>
                        <a:t>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 = </a:t>
                      </a:r>
                      <a:r>
                        <a:rPr lang="en-US" sz="11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"SELECT </a:t>
                      </a:r>
                      <a:r>
                        <a:rPr lang="en-US" sz="1100" kern="12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</a:t>
                      </a:r>
                      <a:r>
                        <a:rPr lang="en-US" sz="1100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name FROM products WHERE " </a:t>
                      </a:r>
                      <a:r>
                        <a:rPr lang="en-US" sz="1100" dirty="0">
                          <a:effectLst/>
                        </a:rPr>
                        <a:t>+ </a:t>
                      </a:r>
                      <a:r>
                        <a:rPr lang="en-US" sz="1100" dirty="0" err="1">
                          <a:effectLst/>
                        </a:rPr>
                        <a:t>where_clause</a:t>
                      </a:r>
                      <a:endParaRPr lang="en-US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dirty="0" err="1">
                          <a:effectLst/>
                        </a:rPr>
                        <a:t>cur.execute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 err="1">
                          <a:effectLst/>
                        </a:rPr>
                        <a:t>sql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cur.fetchall</a:t>
                      </a:r>
                      <a:r>
                        <a:rPr lang="en-US" sz="1100" dirty="0">
                          <a:effectLst/>
                        </a:rPr>
                        <a:t>()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3351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81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9721A-3838-38EC-5DE2-9E130206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8C6F-1194-3C5B-A858-CB5C8FB3C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2. Vulnerability Types Covered (</a:t>
            </a:r>
            <a:r>
              <a:rPr lang="en-GB" dirty="0" err="1"/>
              <a:t>xss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5B2C04-2CDB-A0DA-C5E9-6C57C9583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597068"/>
              </p:ext>
            </p:extLst>
          </p:nvPr>
        </p:nvGraphicFramePr>
        <p:xfrm>
          <a:off x="1560943" y="1818905"/>
          <a:ext cx="7601530" cy="4827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7836">
                  <a:extLst>
                    <a:ext uri="{9D8B030D-6E8A-4147-A177-3AD203B41FA5}">
                      <a16:colId xmlns:a16="http://schemas.microsoft.com/office/drawing/2014/main" val="466774775"/>
                    </a:ext>
                  </a:extLst>
                </a:gridCol>
                <a:gridCol w="5893694">
                  <a:extLst>
                    <a:ext uri="{9D8B030D-6E8A-4147-A177-3AD203B41FA5}">
                      <a16:colId xmlns:a16="http://schemas.microsoft.com/office/drawing/2014/main" val="3800282653"/>
                    </a:ext>
                  </a:extLst>
                </a:gridCol>
              </a:tblGrid>
              <a:tr h="257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Vulnerability Type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Example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045127"/>
                  </a:ext>
                </a:extLst>
              </a:tr>
              <a:tr h="5329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Reflected XSS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effectLst/>
                        </a:rPr>
                        <a:t>def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rgbClr val="C00000"/>
                          </a:solidFill>
                          <a:effectLst/>
                        </a:rPr>
                        <a:t>search</a:t>
                      </a:r>
                      <a:r>
                        <a:rPr lang="en-US" sz="1100" dirty="0">
                          <a:effectLst/>
                        </a:rPr>
                        <a:t>():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query = </a:t>
                      </a:r>
                      <a:r>
                        <a:rPr lang="en-US" sz="1100" dirty="0" err="1">
                          <a:effectLst/>
                        </a:rPr>
                        <a:t>request.args.get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"q"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""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n-GB" sz="1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Insecure</a:t>
                      </a: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directly injecting user input into HTML</a:t>
                      </a:r>
                      <a:endParaRPr lang="en-US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template = 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"&lt;h1&gt;Results for {{ query }}&lt;/h1&gt;"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return f"&lt;h1&gt;Results for {query}&lt;/h1&gt;"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4077858"/>
                  </a:ext>
                </a:extLst>
              </a:tr>
              <a:tr h="808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Stored XSS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C00000"/>
                          </a:solidFill>
                          <a:effectLst/>
                        </a:rPr>
                        <a:t>show_comments</a:t>
                      </a:r>
                      <a:r>
                        <a:rPr lang="en-US" sz="1100" dirty="0">
                          <a:effectLst/>
                        </a:rPr>
                        <a:t>():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cur = </a:t>
                      </a:r>
                      <a:r>
                        <a:rPr lang="en-US" sz="1100" dirty="0" err="1">
                          <a:effectLst/>
                        </a:rPr>
                        <a:t>db.execute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"SELECT text FROM comments"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n-GB" sz="1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Insecure</a:t>
                      </a: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directly injects stored content into HTML</a:t>
                      </a:r>
                      <a:endParaRPr lang="en-US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comments = [row[</a:t>
                      </a:r>
                      <a:r>
                        <a:rPr lang="en-US" sz="11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100" dirty="0">
                          <a:effectLst/>
                        </a:rPr>
                        <a:t>] </a:t>
                      </a: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en-US" sz="1100" dirty="0">
                          <a:effectLst/>
                        </a:rPr>
                        <a:t> row </a:t>
                      </a: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cur.fetchall</a:t>
                      </a:r>
                      <a:r>
                        <a:rPr lang="en-US" sz="1100" dirty="0">
                          <a:effectLst/>
                        </a:rPr>
                        <a:t>()]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html = 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"&lt;</a:t>
                      </a:r>
                      <a:r>
                        <a:rPr lang="en-US" sz="1100" dirty="0" err="1">
                          <a:solidFill>
                            <a:schemeClr val="accent3"/>
                          </a:solidFill>
                          <a:effectLst/>
                        </a:rPr>
                        <a:t>br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&gt;"</a:t>
                      </a:r>
                      <a:r>
                        <a:rPr lang="en-US" sz="1100" dirty="0">
                          <a:effectLst/>
                        </a:rPr>
                        <a:t>.join(comments)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  </a:t>
                      </a: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f"&lt;h2&gt;Comments&lt;/h2&gt;{html}"</a:t>
                      </a:r>
                      <a:endParaRPr lang="en-DE" sz="1100" dirty="0">
                        <a:solidFill>
                          <a:schemeClr val="accent3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549510"/>
                  </a:ext>
                </a:extLst>
              </a:tr>
              <a:tr h="8089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DOM-based XSS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&lt;script&gt;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r>
                        <a:rPr lang="en-US" sz="1100" dirty="0">
                          <a:effectLst/>
                        </a:rPr>
                        <a:t> query = </a:t>
                      </a:r>
                      <a:r>
                        <a:rPr lang="en-US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URLSearchParams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</a:rPr>
                        <a:t>window</a:t>
                      </a:r>
                      <a:r>
                        <a:rPr lang="en-US" sz="1100" dirty="0" err="1">
                          <a:effectLst/>
                        </a:rPr>
                        <a:t>.location.search</a:t>
                      </a:r>
                      <a:r>
                        <a:rPr lang="en-US" sz="1100" dirty="0">
                          <a:effectLst/>
                        </a:rPr>
                        <a:t>).get(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"q"</a:t>
                      </a:r>
                      <a:r>
                        <a:rPr lang="en-US" sz="1100" dirty="0">
                          <a:effectLst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n-GB" sz="1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Insecure</a:t>
                      </a: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100" kern="12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writes user input directly into DOM as HTML</a:t>
                      </a:r>
                      <a:endParaRPr lang="en-US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 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effectLst/>
                        </a:rPr>
                        <a:t>document</a:t>
                      </a:r>
                      <a:r>
                        <a:rPr lang="en-US" sz="1100" dirty="0" err="1">
                          <a:effectLst/>
                        </a:rPr>
                        <a:t>.</a:t>
                      </a:r>
                      <a:r>
                        <a:rPr lang="en-US" sz="110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getElementById</a:t>
                      </a:r>
                      <a:r>
                        <a:rPr lang="en-US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accent3"/>
                          </a:solidFill>
                          <a:effectLst/>
                        </a:rPr>
                        <a:t>"results"</a:t>
                      </a:r>
                      <a:r>
                        <a:rPr lang="en-US" sz="1100" dirty="0">
                          <a:effectLst/>
                        </a:rPr>
                        <a:t>).</a:t>
                      </a:r>
                      <a:r>
                        <a:rPr lang="en-US" sz="1100" dirty="0" err="1">
                          <a:effectLst/>
                        </a:rPr>
                        <a:t>innerHTML</a:t>
                      </a:r>
                      <a:r>
                        <a:rPr lang="en-US" sz="1100" dirty="0">
                          <a:effectLst/>
                        </a:rPr>
                        <a:t> = query;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&lt;/script&gt;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77342"/>
                  </a:ext>
                </a:extLst>
              </a:tr>
              <a:tr h="10848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JavaScript Context Injection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user():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username = 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request.args.get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("name", "")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DE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n-GB" sz="11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Insecure: directly embedding user input into JS string literal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GB" sz="11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100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f"""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&lt;script&gt;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var user = '{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username}';  // unsafe if username contains JS-breaking characters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GB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document.write</a:t>
                      </a: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("Welcome, " + user);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   &lt;/script&gt;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44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03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30ED-438E-94CF-0E94-1F1471CC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D73D-D072-8976-5F59-EC676396C0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2. Vulnerability Types Covered (Command Injection  &amp; Cross-Site Request Forgery)</a:t>
            </a:r>
          </a:p>
          <a:p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3BCFFC-282F-7BDA-7E15-16791DF6E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49179"/>
              </p:ext>
            </p:extLst>
          </p:nvPr>
        </p:nvGraphicFramePr>
        <p:xfrm>
          <a:off x="628081" y="2198716"/>
          <a:ext cx="5113296" cy="3570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1800">
                  <a:extLst>
                    <a:ext uri="{9D8B030D-6E8A-4147-A177-3AD203B41FA5}">
                      <a16:colId xmlns:a16="http://schemas.microsoft.com/office/drawing/2014/main" val="3398807640"/>
                    </a:ext>
                  </a:extLst>
                </a:gridCol>
                <a:gridCol w="3381496">
                  <a:extLst>
                    <a:ext uri="{9D8B030D-6E8A-4147-A177-3AD203B41FA5}">
                      <a16:colId xmlns:a16="http://schemas.microsoft.com/office/drawing/2014/main" val="3556133040"/>
                    </a:ext>
                  </a:extLst>
                </a:gridCol>
              </a:tblGrid>
              <a:tr h="2656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Vulnerability Type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DE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4766368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OS System Calls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asks the operating system to do things like open files or run programs.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616603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Subprocess Vulnerabilities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runs another program using user input and the user can make it run harmful commands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4202013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Shell Execution Methods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sends text to a shell (like bash) and the user can make the shell do dangerous things.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419454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Eval-Based Command Execution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turns a string into code and the user can make it run any code they want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124878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Shell Script Generation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builds a shell script using user input and the user can make it do bad actions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222776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Environment Variable Usage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program uses environment settings that a user can change to make it behave badly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019195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6A9216-89F7-D7DD-5E14-DB714C42C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171039"/>
              </p:ext>
            </p:extLst>
          </p:nvPr>
        </p:nvGraphicFramePr>
        <p:xfrm>
          <a:off x="6095685" y="2198716"/>
          <a:ext cx="5307937" cy="3570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6703">
                  <a:extLst>
                    <a:ext uri="{9D8B030D-6E8A-4147-A177-3AD203B41FA5}">
                      <a16:colId xmlns:a16="http://schemas.microsoft.com/office/drawing/2014/main" val="3398807640"/>
                    </a:ext>
                  </a:extLst>
                </a:gridCol>
                <a:gridCol w="3141234">
                  <a:extLst>
                    <a:ext uri="{9D8B030D-6E8A-4147-A177-3AD203B41FA5}">
                      <a16:colId xmlns:a16="http://schemas.microsoft.com/office/drawing/2014/main" val="3556133040"/>
                    </a:ext>
                  </a:extLst>
                </a:gridCol>
              </a:tblGrid>
              <a:tr h="201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Vulnerability Type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DE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4766368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Unprotected POST Routes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server accepts POST requests without checking if they come from a trusted source, allowing attackers to send fake requests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616603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Direct Form Processing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server processes form data without verifying its source, letting attackers submit malicious or unauthorized data.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419454"/>
                  </a:ext>
                </a:extLst>
              </a:tr>
              <a:tr h="201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Direct Form Processing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Problems specific to different database systems</a:t>
                      </a:r>
                      <a:endParaRPr lang="en-DE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124878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AJAX Operations Without CSRF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AJAX requests change server data without CSRF protection, allowing attackers to trick users into unwanted actions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222776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HTML Forms Without Tokens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form doesn’t include a CSRF token, making it easy for attackers to submit it from other sites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3351898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GET Method State Changes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100" dirty="0"/>
                        <a:t>When a GET request changes data on the server, allowing attackers to trigger unwanted actions just by visiting a URL</a:t>
                      </a:r>
                      <a:endParaRPr lang="en-DE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511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1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F099-62DE-9C6C-6EC5-74576D32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E19F4-1E4C-82C7-73A3-B38CACA16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3904411" cy="4616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Implementation Architecture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448C14-75C9-D0E6-AA0A-A88E3B1982C6}"/>
              </a:ext>
            </a:extLst>
          </p:cNvPr>
          <p:cNvSpPr txBox="1"/>
          <p:nvPr/>
        </p:nvSpPr>
        <p:spPr>
          <a:xfrm>
            <a:off x="544946" y="1956023"/>
            <a:ext cx="5974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an AST (Abstract Syntax Tree)?</a:t>
            </a:r>
            <a:br>
              <a:rPr lang="en-GB" dirty="0"/>
            </a:br>
            <a:r>
              <a:rPr lang="en-GB" dirty="0"/>
              <a:t>An AST is a structured, tree-like representation of source code.</a:t>
            </a:r>
            <a:endParaRPr lang="en-DE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2C072D-5757-6583-B135-A9DB9C04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430" y="362527"/>
            <a:ext cx="4572000" cy="56295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563EE5E-2951-E8B4-E0DA-5B0AD95B1FC0}"/>
              </a:ext>
            </a:extLst>
          </p:cNvPr>
          <p:cNvSpPr txBox="1"/>
          <p:nvPr/>
        </p:nvSpPr>
        <p:spPr>
          <a:xfrm>
            <a:off x="514926" y="2811121"/>
            <a:ext cx="56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the </a:t>
            </a:r>
            <a:r>
              <a:rPr lang="en-GB" b="1" dirty="0"/>
              <a:t>pipeline</a:t>
            </a:r>
            <a:r>
              <a:rPr lang="en-GB" dirty="0"/>
              <a:t> many static analysis or security vulnerability detection tools use.</a:t>
            </a:r>
            <a:br>
              <a:rPr lang="en-GB" dirty="0"/>
            </a:br>
            <a:r>
              <a:rPr lang="en-GB" dirty="0"/>
              <a:t>It shows </a:t>
            </a:r>
            <a:r>
              <a:rPr lang="en-GB" b="1" dirty="0"/>
              <a:t>how code is </a:t>
            </a:r>
            <a:r>
              <a:rPr lang="en-GB" b="1" dirty="0" err="1"/>
              <a:t>analyzed</a:t>
            </a:r>
            <a:r>
              <a:rPr lang="en-GB" dirty="0"/>
              <a:t> from structure to final report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87668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9241-0AC9-EED6-024E-9C50053D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302A-C1F6-6544-7A20-D60C71C6C0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3904411" cy="4616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Implementation Architecture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AE1449-8D84-4804-05ED-246AF6892DF6}"/>
              </a:ext>
            </a:extLst>
          </p:cNvPr>
          <p:cNvSpPr txBox="1"/>
          <p:nvPr/>
        </p:nvSpPr>
        <p:spPr>
          <a:xfrm>
            <a:off x="544946" y="1956023"/>
            <a:ext cx="5974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= </a:t>
            </a:r>
            <a:r>
              <a:rPr lang="en-GB" dirty="0">
                <a:solidFill>
                  <a:srgbClr val="FFC000"/>
                </a:solidFill>
              </a:rPr>
              <a:t>input</a:t>
            </a:r>
            <a:r>
              <a:rPr lang="en-GB" dirty="0"/>
              <a:t>(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"Enter name: "</a:t>
            </a:r>
            <a:r>
              <a:rPr lang="en-GB" dirty="0"/>
              <a:t>)</a:t>
            </a:r>
          </a:p>
          <a:p>
            <a:r>
              <a:rPr lang="en-GB" dirty="0"/>
              <a:t>query =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"SELECT * FROM users WHERE name = " </a:t>
            </a:r>
            <a:r>
              <a:rPr lang="en-GB" dirty="0"/>
              <a:t>+ user</a:t>
            </a:r>
          </a:p>
          <a:p>
            <a:r>
              <a:rPr lang="en-GB" dirty="0" err="1"/>
              <a:t>cursor.</a:t>
            </a:r>
            <a:r>
              <a:rPr lang="en-GB" dirty="0" err="1">
                <a:solidFill>
                  <a:schemeClr val="accent1"/>
                </a:solidFill>
              </a:rPr>
              <a:t>execute</a:t>
            </a:r>
            <a:r>
              <a:rPr lang="en-GB" dirty="0"/>
              <a:t>(query)</a:t>
            </a:r>
            <a:endParaRPr lang="en-DE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4193F47-FF0D-9415-1D89-4CCC7A41E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430" y="362527"/>
            <a:ext cx="4572000" cy="56295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36A9FA-5292-7111-11B7-3C58785687D0}"/>
              </a:ext>
            </a:extLst>
          </p:cNvPr>
          <p:cNvSpPr txBox="1"/>
          <p:nvPr/>
        </p:nvSpPr>
        <p:spPr>
          <a:xfrm>
            <a:off x="480291" y="2984525"/>
            <a:ext cx="51001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AST shows relationships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user</a:t>
            </a:r>
            <a:r>
              <a:rPr lang="en-GB" dirty="0"/>
              <a:t> is assigned from </a:t>
            </a:r>
            <a:r>
              <a:rPr lang="en-GB" b="1" dirty="0"/>
              <a:t>input()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query</a:t>
            </a:r>
            <a:r>
              <a:rPr lang="en-GB" dirty="0"/>
              <a:t> uses </a:t>
            </a:r>
            <a:r>
              <a:rPr lang="en-GB" b="1" dirty="0"/>
              <a:t>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cursor.execute</a:t>
            </a:r>
            <a:r>
              <a:rPr lang="en-GB" b="1" dirty="0"/>
              <a:t>() </a:t>
            </a:r>
            <a:r>
              <a:rPr lang="en-GB" dirty="0"/>
              <a:t>runs with </a:t>
            </a:r>
            <a:r>
              <a:rPr lang="en-GB" b="1" dirty="0"/>
              <a:t>query</a:t>
            </a:r>
          </a:p>
          <a:p>
            <a:r>
              <a:rPr lang="en-GB" dirty="0"/>
              <a:t>So the </a:t>
            </a:r>
            <a:r>
              <a:rPr lang="en-GB" dirty="0" err="1"/>
              <a:t>analyzer</a:t>
            </a:r>
            <a:r>
              <a:rPr lang="en-GB" dirty="0"/>
              <a:t> </a:t>
            </a:r>
            <a:r>
              <a:rPr lang="en-GB" i="1" dirty="0"/>
              <a:t>understands what’s happening</a:t>
            </a:r>
            <a:r>
              <a:rPr lang="en-GB" dirty="0"/>
              <a:t> in code.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6209C-4D11-9BD4-CB55-48CBD08C84F7}"/>
              </a:ext>
            </a:extLst>
          </p:cNvPr>
          <p:cNvSpPr txBox="1"/>
          <p:nvPr/>
        </p:nvSpPr>
        <p:spPr>
          <a:xfrm>
            <a:off x="221672" y="4545484"/>
            <a:ext cx="6297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🧬 </a:t>
            </a:r>
            <a:r>
              <a:rPr lang="en-GB" b="1" dirty="0"/>
              <a:t>Taint check</a:t>
            </a:r>
          </a:p>
          <a:p>
            <a:r>
              <a:rPr lang="en-GB" dirty="0"/>
              <a:t>“Tainted” </a:t>
            </a:r>
            <a:r>
              <a:rPr lang="en-GB" sz="1200" dirty="0"/>
              <a:t>= data that comes from an </a:t>
            </a:r>
            <a:r>
              <a:rPr lang="en-GB" sz="1200" b="1" dirty="0"/>
              <a:t>untrusted source</a:t>
            </a:r>
            <a:r>
              <a:rPr lang="en-GB" sz="1200" dirty="0"/>
              <a:t> (like user input, HTTP request, etc.)</a:t>
            </a:r>
          </a:p>
          <a:p>
            <a:r>
              <a:rPr lang="en-DE" b="1" dirty="0"/>
              <a:t>💣 </a:t>
            </a:r>
            <a:r>
              <a:rPr lang="en-GB" b="1" dirty="0"/>
              <a:t>Sink</a:t>
            </a:r>
          </a:p>
          <a:p>
            <a:r>
              <a:rPr lang="en-GB" dirty="0"/>
              <a:t>A “sink” = </a:t>
            </a:r>
            <a:r>
              <a:rPr lang="en-GB" sz="1200" dirty="0"/>
              <a:t>a </a:t>
            </a:r>
            <a:r>
              <a:rPr lang="en-GB" sz="1200" b="1" dirty="0"/>
              <a:t>dangerous operation</a:t>
            </a:r>
            <a:r>
              <a:rPr lang="en-GB" sz="1200" dirty="0"/>
              <a:t> that could cause a vulnerability if it receives tainted data.</a:t>
            </a:r>
          </a:p>
          <a:p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1A02F-67B6-F572-ABF0-5190490E3EE8}"/>
              </a:ext>
            </a:extLst>
          </p:cNvPr>
          <p:cNvSpPr txBox="1"/>
          <p:nvPr/>
        </p:nvSpPr>
        <p:spPr>
          <a:xfrm>
            <a:off x="110835" y="5804818"/>
            <a:ext cx="6520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 if </a:t>
            </a:r>
            <a:r>
              <a:rPr lang="en-GB" b="1" dirty="0"/>
              <a:t>tainted data</a:t>
            </a:r>
            <a:r>
              <a:rPr lang="en-GB" dirty="0"/>
              <a:t> reaches a </a:t>
            </a:r>
            <a:r>
              <a:rPr lang="en-GB" b="1" dirty="0"/>
              <a:t>sink</a:t>
            </a:r>
            <a:r>
              <a:rPr lang="en-GB" dirty="0"/>
              <a:t>, that’s a </a:t>
            </a:r>
            <a:r>
              <a:rPr lang="en-GB" b="1" dirty="0"/>
              <a:t>potential vulnerability</a:t>
            </a:r>
            <a:r>
              <a:rPr lang="en-GB" dirty="0"/>
              <a:t>.</a:t>
            </a:r>
          </a:p>
          <a:p>
            <a:r>
              <a:rPr lang="en-GB" dirty="0" err="1"/>
              <a:t>user_input</a:t>
            </a:r>
            <a:r>
              <a:rPr lang="en-GB" dirty="0"/>
              <a:t> → query →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</a:rPr>
              <a:t>cursor</a:t>
            </a:r>
            <a:r>
              <a:rPr lang="en-GB" dirty="0" err="1"/>
              <a:t>.</a:t>
            </a:r>
            <a:r>
              <a:rPr lang="en-GB" dirty="0" err="1">
                <a:solidFill>
                  <a:srgbClr val="C00000"/>
                </a:solidFill>
              </a:rPr>
              <a:t>execute</a:t>
            </a:r>
            <a:r>
              <a:rPr lang="en-GB" dirty="0"/>
              <a:t>()  </a:t>
            </a:r>
            <a:r>
              <a:rPr lang="en-DE" dirty="0"/>
              <a:t>✅ (</a:t>
            </a:r>
            <a:r>
              <a:rPr lang="en-GB" dirty="0"/>
              <a:t>danger)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2987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C04C-720B-578C-25FC-B40BFE2A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0B82-D86C-9517-0AC7-62DCA84535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3904411" cy="4616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Implementation Architecture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8ACD24C-95C3-FA92-37B0-4E9FD51673F5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525061"/>
          <a:ext cx="10363200" cy="2377440"/>
        </p:xfrm>
        <a:graphic>
          <a:graphicData uri="http://schemas.openxmlformats.org/drawingml/2006/table">
            <a:tbl>
              <a:tblPr/>
              <a:tblGrid>
                <a:gridCol w="2974109">
                  <a:extLst>
                    <a:ext uri="{9D8B030D-6E8A-4147-A177-3AD203B41FA5}">
                      <a16:colId xmlns:a16="http://schemas.microsoft.com/office/drawing/2014/main" val="1210407256"/>
                    </a:ext>
                  </a:extLst>
                </a:gridCol>
                <a:gridCol w="7389091">
                  <a:extLst>
                    <a:ext uri="{9D8B030D-6E8A-4147-A177-3AD203B41FA5}">
                      <a16:colId xmlns:a16="http://schemas.microsoft.com/office/drawing/2014/main" val="2607347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43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Why use AST?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Provides structured, language-aware understanding of code for analysis.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33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What problem does it solve?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Eliminates ambiguity of regex-based or text-based analysis.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844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What are current problems?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 semantics, inter-procedural blindness, false positives/negatives, scalability, and language variance.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72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What’s next?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Moving to richer code representations (e.g., Code Property Graphs) and hybrid ML-based models.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36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132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A8027-EAA0-ECCA-0A00-BF4C836D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D13-A1FE-00FE-7A1B-087006590E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3904411" cy="46166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Implementation Architecture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C3014-ABE5-A661-0762-A0C63071DD44}"/>
              </a:ext>
            </a:extLst>
          </p:cNvPr>
          <p:cNvSpPr txBox="1"/>
          <p:nvPr/>
        </p:nvSpPr>
        <p:spPr>
          <a:xfrm>
            <a:off x="1200099" y="2083763"/>
            <a:ext cx="3130061" cy="461665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INPUT CODE </a:t>
            </a:r>
          </a:p>
          <a:p>
            <a:r>
              <a:rPr lang="en-GB" sz="1200" dirty="0"/>
              <a:t>Python source files, code upload, GitHub repos</a:t>
            </a:r>
            <a:endParaRPr lang="en-DE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E155F-3F75-80E6-6C5B-23B1C328C76A}"/>
              </a:ext>
            </a:extLst>
          </p:cNvPr>
          <p:cNvSpPr txBox="1"/>
          <p:nvPr/>
        </p:nvSpPr>
        <p:spPr>
          <a:xfrm>
            <a:off x="865244" y="3239454"/>
            <a:ext cx="3798277" cy="160043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LAYER 1: REGEX PATTERNS</a:t>
            </a:r>
          </a:p>
          <a:p>
            <a:r>
              <a:rPr lang="en-GB" sz="1400" dirty="0"/>
              <a:t>• String concatenation: "SELECT * FROM " + table</a:t>
            </a:r>
          </a:p>
          <a:p>
            <a:r>
              <a:rPr lang="en-GB" sz="1400" dirty="0"/>
              <a:t>• F-string injection: </a:t>
            </a:r>
            <a:r>
              <a:rPr lang="en-GB" sz="1400" dirty="0" err="1"/>
              <a:t>f"WHERE</a:t>
            </a:r>
            <a:r>
              <a:rPr lang="en-GB" sz="1400" dirty="0"/>
              <a:t> id = {</a:t>
            </a:r>
            <a:r>
              <a:rPr lang="en-GB" sz="1400" dirty="0" err="1"/>
              <a:t>user_input</a:t>
            </a:r>
            <a:r>
              <a:rPr lang="en-GB" sz="1400" dirty="0"/>
              <a:t>}”</a:t>
            </a:r>
          </a:p>
          <a:p>
            <a:r>
              <a:rPr lang="en-GB" sz="1400" dirty="0"/>
              <a:t>• Format strings: "WHERE name = {}".format(name)</a:t>
            </a:r>
          </a:p>
          <a:p>
            <a:r>
              <a:rPr lang="en-GB" sz="1400" dirty="0"/>
              <a:t>• Dangerous functions: </a:t>
            </a:r>
            <a:r>
              <a:rPr lang="en-GB" sz="1400" dirty="0" err="1"/>
              <a:t>os.system</a:t>
            </a:r>
            <a:r>
              <a:rPr lang="en-GB" sz="1400" dirty="0"/>
              <a:t>(), eval(), exec()</a:t>
            </a:r>
          </a:p>
          <a:p>
            <a:r>
              <a:rPr lang="en-GB" sz="1400" dirty="0"/>
              <a:t>• Framework patterns: Django ORM, Flask queries</a:t>
            </a:r>
          </a:p>
          <a:p>
            <a:r>
              <a:rPr lang="en-GB" sz="1400" dirty="0"/>
              <a:t>➤ Fast initial screening, high recall</a:t>
            </a:r>
            <a:endParaRPr lang="en-D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52374-828A-60AE-7C5A-B12FC6B0E87A}"/>
              </a:ext>
            </a:extLst>
          </p:cNvPr>
          <p:cNvSpPr txBox="1"/>
          <p:nvPr/>
        </p:nvSpPr>
        <p:spPr>
          <a:xfrm>
            <a:off x="6096000" y="275251"/>
            <a:ext cx="4032738" cy="160043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LAYER 2: AST ANALYSIS </a:t>
            </a:r>
          </a:p>
          <a:p>
            <a:r>
              <a:rPr lang="en-GB" sz="1400" dirty="0"/>
              <a:t>• Parse code into Abstract Syntax Tree </a:t>
            </a:r>
          </a:p>
          <a:p>
            <a:r>
              <a:rPr lang="en-GB" sz="1400" dirty="0"/>
              <a:t>• Track variable origins and data flow </a:t>
            </a:r>
          </a:p>
          <a:p>
            <a:r>
              <a:rPr lang="en-GB" sz="1400" dirty="0"/>
              <a:t>• Identify user input sources (</a:t>
            </a:r>
            <a:r>
              <a:rPr lang="en-GB" sz="1400" dirty="0" err="1"/>
              <a:t>request.form</a:t>
            </a:r>
            <a:r>
              <a:rPr lang="en-GB" sz="1400" dirty="0"/>
              <a:t>, etc.)</a:t>
            </a:r>
          </a:p>
          <a:p>
            <a:r>
              <a:rPr lang="en-GB" sz="1400" dirty="0"/>
              <a:t>• </a:t>
            </a:r>
            <a:r>
              <a:rPr lang="en-GB" sz="1400" dirty="0" err="1"/>
              <a:t>Analyze</a:t>
            </a:r>
            <a:r>
              <a:rPr lang="en-GB" sz="1400" dirty="0"/>
              <a:t> function call contexts </a:t>
            </a:r>
          </a:p>
          <a:p>
            <a:r>
              <a:rPr lang="en-GB" sz="1400" dirty="0"/>
              <a:t> • Understand control flow and conditions </a:t>
            </a:r>
          </a:p>
          <a:p>
            <a:r>
              <a:rPr lang="en-GB" sz="1400" dirty="0"/>
              <a:t>➤ Context-aware validation, reduces false positives</a:t>
            </a:r>
            <a:endParaRPr lang="en-D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33869-4A62-04EF-AA88-88070EFF0469}"/>
              </a:ext>
            </a:extLst>
          </p:cNvPr>
          <p:cNvSpPr txBox="1"/>
          <p:nvPr/>
        </p:nvSpPr>
        <p:spPr>
          <a:xfrm>
            <a:off x="6100624" y="2288592"/>
            <a:ext cx="4032738" cy="160043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LAYER 3: DEDUPLICATION &amp; SCORING </a:t>
            </a:r>
          </a:p>
          <a:p>
            <a:r>
              <a:rPr lang="en-GB" sz="1400" dirty="0"/>
              <a:t>• Remove duplicate findings on same line </a:t>
            </a:r>
          </a:p>
          <a:p>
            <a:r>
              <a:rPr lang="en-GB" sz="1400" dirty="0"/>
              <a:t>• Calculate confidence scores (0-100%) </a:t>
            </a:r>
          </a:p>
          <a:p>
            <a:r>
              <a:rPr lang="en-GB" sz="1400" dirty="0"/>
              <a:t>• Classify severity: Critical/High/Medium/Low</a:t>
            </a:r>
          </a:p>
          <a:p>
            <a:r>
              <a:rPr lang="en-GB" sz="1400" dirty="0"/>
              <a:t>• Generate remediation suggestions</a:t>
            </a:r>
          </a:p>
          <a:p>
            <a:r>
              <a:rPr lang="en-GB" sz="1400" dirty="0"/>
              <a:t>• Create detailed vulnerability reports </a:t>
            </a:r>
          </a:p>
          <a:p>
            <a:r>
              <a:rPr lang="en-GB" sz="1400" dirty="0"/>
              <a:t>➤ Actionable, prioritized results </a:t>
            </a:r>
            <a:endParaRPr lang="en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F2FBB-EE6D-D35E-3BAD-C380C7211062}"/>
              </a:ext>
            </a:extLst>
          </p:cNvPr>
          <p:cNvSpPr txBox="1"/>
          <p:nvPr/>
        </p:nvSpPr>
        <p:spPr>
          <a:xfrm>
            <a:off x="6105239" y="4293149"/>
            <a:ext cx="4032738" cy="5232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RESULTS</a:t>
            </a:r>
          </a:p>
          <a:p>
            <a:pPr algn="ctr"/>
            <a:r>
              <a:rPr lang="en-GB" sz="1400" dirty="0"/>
              <a:t>Word reports with line numbers, fixes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FA5B18-4B34-047E-9BB2-5FEC49FC21F9}"/>
              </a:ext>
            </a:extLst>
          </p:cNvPr>
          <p:cNvCxnSpPr>
            <a:cxnSpLocks/>
          </p:cNvCxnSpPr>
          <p:nvPr/>
        </p:nvCxnSpPr>
        <p:spPr>
          <a:xfrm>
            <a:off x="2623127" y="2545428"/>
            <a:ext cx="0" cy="6940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54A4DF7A-ECBC-4B62-FF7B-610FE7E4347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663521" y="1075470"/>
            <a:ext cx="1432479" cy="2964203"/>
          </a:xfrm>
          <a:prstGeom prst="bent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2F474A-4883-8017-9987-186D6F21D44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112369" y="1875689"/>
            <a:ext cx="4624" cy="412903"/>
          </a:xfrm>
          <a:prstGeom prst="straightConnector1">
            <a:avLst/>
          </a:prstGeom>
          <a:ln w="25400">
            <a:solidFill>
              <a:schemeClr val="accent1">
                <a:shade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E3F520-769A-2039-9F8C-B580EF02A49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116993" y="3889030"/>
            <a:ext cx="4615" cy="40411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F1D39C0-4ED2-86A4-81E4-7058E15605C8}"/>
              </a:ext>
            </a:extLst>
          </p:cNvPr>
          <p:cNvSpPr txBox="1"/>
          <p:nvPr/>
        </p:nvSpPr>
        <p:spPr>
          <a:xfrm>
            <a:off x="1007026" y="5043866"/>
            <a:ext cx="71053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Why This Hybrid Approach Works**</a:t>
            </a:r>
            <a:endParaRPr lang="en-GB" dirty="0"/>
          </a:p>
          <a:p>
            <a:r>
              <a:rPr lang="en-GB" dirty="0"/>
              <a:t>- </a:t>
            </a:r>
            <a:r>
              <a:rPr lang="en-GB" b="1" dirty="0"/>
              <a:t>**Layer 1 (Regex)**</a:t>
            </a:r>
            <a:r>
              <a:rPr lang="en-GB" dirty="0"/>
              <a:t>: Catches obvious patterns quickly, ensures high recall</a:t>
            </a:r>
          </a:p>
          <a:p>
            <a:r>
              <a:rPr lang="en-GB" dirty="0"/>
              <a:t>- </a:t>
            </a:r>
            <a:r>
              <a:rPr lang="en-GB" b="1" dirty="0"/>
              <a:t>**Layer 2 (AST)**</a:t>
            </a:r>
            <a:r>
              <a:rPr lang="en-GB" dirty="0"/>
              <a:t>: Adds semantic understanding, improves precision</a:t>
            </a:r>
          </a:p>
          <a:p>
            <a:r>
              <a:rPr lang="en-GB" dirty="0"/>
              <a:t>- </a:t>
            </a:r>
            <a:r>
              <a:rPr lang="en-GB" b="1" dirty="0"/>
              <a:t>**Layer 3 (Processing)**</a:t>
            </a:r>
            <a:r>
              <a:rPr lang="en-GB" dirty="0"/>
              <a:t>: Makes results actionable for developers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1256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7663A-BADF-05A6-B7BB-A1BB0326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B901-73DD-795F-FE57-5FBA4B32B9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10363826" cy="440201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4. Evaluation &amp; Results</a:t>
            </a:r>
          </a:p>
        </p:txBody>
      </p:sp>
      <p:pic>
        <p:nvPicPr>
          <p:cNvPr id="5" name="Picture 4" descr="A graph of multiple colored bars&#10;&#10;AI-generated content may be incorrect.">
            <a:extLst>
              <a:ext uri="{FF2B5EF4-FFF2-40B4-BE49-F238E27FC236}">
                <a16:creationId xmlns:a16="http://schemas.microsoft.com/office/drawing/2014/main" id="{CD284F79-557C-2428-A913-943B4515E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19" y="1972593"/>
            <a:ext cx="7772400" cy="39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8B43-4CA0-3B63-27BA-94993824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FB6A-7770-DE39-129D-455893FCF2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89186"/>
            <a:ext cx="4951317" cy="60586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6. PREVIEW: MACHINE LEARNING APPROACH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1D460C-207C-AD18-7299-818FEE1C7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36348"/>
              </p:ext>
            </p:extLst>
          </p:nvPr>
        </p:nvGraphicFramePr>
        <p:xfrm>
          <a:off x="406402" y="1995054"/>
          <a:ext cx="9993743" cy="408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962">
                  <a:extLst>
                    <a:ext uri="{9D8B030D-6E8A-4147-A177-3AD203B41FA5}">
                      <a16:colId xmlns:a16="http://schemas.microsoft.com/office/drawing/2014/main" val="2755540203"/>
                    </a:ext>
                  </a:extLst>
                </a:gridCol>
                <a:gridCol w="7259781">
                  <a:extLst>
                    <a:ext uri="{9D8B030D-6E8A-4147-A177-3AD203B41FA5}">
                      <a16:colId xmlns:a16="http://schemas.microsoft.com/office/drawing/2014/main" val="527446110"/>
                    </a:ext>
                  </a:extLst>
                </a:gridCol>
              </a:tblGrid>
              <a:tr h="346144">
                <a:tc>
                  <a:txBody>
                    <a:bodyPr/>
                    <a:lstStyle/>
                    <a:p>
                      <a:r>
                        <a:rPr lang="en-GB" dirty="0"/>
                        <a:t>Step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0678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1. Source Code Collection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Collects source code from GitHub repositories, focusing on commits related to security or vulnerability fixes.</a:t>
                      </a:r>
                      <a:endParaRPr lang="en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390005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2. Tokenization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Cleans and splits the collected code into tokens by removing comments, whitespace, and unnecessary syntax elements.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55883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3. </a:t>
                      </a:r>
                      <a:r>
                        <a:rPr lang="en-GB" dirty="0" err="1"/>
                        <a:t>Labeling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Assigns labels to code snippets — marking them as vulnerable or safe based on commit messages or change context.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631693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4. Word2Vec Embedding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Converts the tokens into numerical vector representations that capture their semantic meaning for the model.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03861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5. Model Training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Trains an LSTM or neural network model to recognize patterns that indicate vulnerable code segments.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556696"/>
                  </a:ext>
                </a:extLst>
              </a:tr>
              <a:tr h="627852">
                <a:tc>
                  <a:txBody>
                    <a:bodyPr/>
                    <a:lstStyle/>
                    <a:p>
                      <a:r>
                        <a:rPr lang="en-GB" dirty="0"/>
                        <a:t>6. Threshold-Based Classification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Uses model output probabilities and predefined thresholds to classify vulnerability severity. </a:t>
                      </a:r>
                    </a:p>
                    <a:p>
                      <a:pPr marL="0" algn="l" defTabSz="914400" rtl="0" eaLnBrk="1" latinLnBrk="0" hangingPunct="1"/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🔴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 = Critical • </a:t>
                      </a:r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🟡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Yellow = Moderate • </a:t>
                      </a:r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🟢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Green = Safe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79024"/>
                  </a:ext>
                </a:extLst>
              </a:tr>
              <a:tr h="490370">
                <a:tc>
                  <a:txBody>
                    <a:bodyPr/>
                    <a:lstStyle/>
                    <a:p>
                      <a:r>
                        <a:rPr lang="en-GB" dirty="0"/>
                        <a:t>7. Visualization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Displays the classified results, highlighting code areas with </a:t>
                      </a:r>
                      <a:r>
                        <a:rPr lang="en-GB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codes according to their risk level.</a:t>
                      </a:r>
                      <a:endParaRPr lang="en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21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75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E57B-5CD8-388A-6136-53555F82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3E76-A61C-6BA4-196B-ABE57228E0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9032" y="2645332"/>
            <a:ext cx="4193935" cy="108615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Thank you for your attention!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accent4"/>
                </a:solidFill>
              </a:rPr>
              <a:t>Questions</a:t>
            </a:r>
            <a:endParaRPr lang="en-DE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84313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637</TotalTime>
  <Words>1594</Words>
  <Application>Microsoft Macintosh PowerPoint</Application>
  <PresentationFormat>Widescreen</PresentationFormat>
  <Paragraphs>191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Cambria</vt:lpstr>
      <vt:lpstr>Tw Cen MT</vt:lpstr>
      <vt:lpstr>Droplet</vt:lpstr>
      <vt:lpstr>Static Analysis vs.  Machine Learning for Vulnerability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Almasi, Mohammad</dc:creator>
  <cp:lastModifiedBy>Almasi, Mohammad</cp:lastModifiedBy>
  <cp:revision>110</cp:revision>
  <dcterms:created xsi:type="dcterms:W3CDTF">2025-10-09T07:36:58Z</dcterms:created>
  <dcterms:modified xsi:type="dcterms:W3CDTF">2025-10-09T18:14:18Z</dcterms:modified>
</cp:coreProperties>
</file>